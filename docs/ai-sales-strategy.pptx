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46F"/>
                </a:solidFill>
                <a:latin typeface="Noto Sans JP"/>
                <a:ea typeface="Noto Sans JP"/>
              </a:rPr>
              <a:t>GOOGLE ADS SALES ×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D2933"/>
                </a:solidFill>
                <a:latin typeface="Noto Sans JP"/>
                <a:ea typeface="Noto Sans JP"/>
              </a:rPr>
              <a:t>提案とエンゲージメントを強化する</a:t>
            </a:r>
          </a:p>
          <a:p>
            <a:pPr algn="l">
              <a:lnSpc>
                <a:spcPct val="120000"/>
              </a:lnSpc>
            </a:pPr>
            <a:r>
              <a:rPr sz="3400" b="1">
                <a:solidFill>
                  <a:srgbClr val="1D2933"/>
                </a:solidFill>
                <a:latin typeface="Noto Sans JP"/>
                <a:ea typeface="Noto Sans JP"/>
              </a:rPr>
              <a:t>AI活用戦略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5646F"/>
                </a:solidFill>
                <a:latin typeface="Noto Sans JP"/>
                <a:ea typeface="Noto Sans JP"/>
              </a:rPr>
              <a:t>ミッション(配信費用の増加 × 推奨プロダクト導入)に向けて、Googleツールのみで組む。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5646F"/>
                </a:solidFill>
                <a:latin typeface="Noto Sans JP"/>
                <a:ea typeface="Noto Sans JP"/>
              </a:rPr>
              <a:t>提案プロセス5段階を、2つのアプローチで整理する。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 w="9525">
            <a:solidFill>
              <a:srgbClr val="BB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SCALABLE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28032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933"/>
                </a:solidFill>
                <a:latin typeface="Noto Sans JP"/>
                <a:ea typeface="Noto Sans JP"/>
              </a:rPr>
              <a:t>仕組みで、全顧客に広く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646F"/>
                </a:solidFill>
                <a:latin typeface="Noto Sans JP"/>
                <a:ea typeface="Noto Sans JP"/>
              </a:rPr>
              <a:t>GAS + Gemini API / Ads Scripts による自動化。接点の「量」とカバレッジを稼ぐ。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6052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8EFE7"/>
          </a:solidFill>
          <a:ln w="9525">
            <a:solidFill>
              <a:srgbClr val="E5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44348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828032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933"/>
                </a:solidFill>
                <a:latin typeface="Noto Sans JP"/>
                <a:ea typeface="Noto Sans JP"/>
              </a:rPr>
              <a:t>重点顧客に、手厚く深く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646F"/>
                </a:solidFill>
                <a:latin typeface="Noto Sans JP"/>
                <a:ea typeface="Noto Sans JP"/>
              </a:rPr>
              <a:t>Gemini / Deep Research / NotebookLM を対話的に使う。提案の「質」と受注単価を上げる。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46F"/>
                </a:solidFill>
                <a:latin typeface="Noto Sans JP"/>
                <a:ea typeface="Noto Sans JP"/>
              </a:rPr>
              <a:t>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D2933"/>
                </a:solidFill>
                <a:latin typeface="Noto Sans JP"/>
                <a:ea typeface="Noto Sans JP"/>
              </a:rPr>
              <a:t>2軸は排他ではなく、漏斗の関係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5646F"/>
                </a:solidFill>
                <a:latin typeface="Noto Sans JP"/>
                <a:ea typeface="Noto Sans JP"/>
              </a:rPr>
              <a:t>全顧客にScalableの網を張り、そこで見つかったシグナルを起点にDeep Diveへ切り替える。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864608"/>
                <a:gridCol w="4855464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/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8578"/>
                          </a:solidFill>
                          <a:latin typeface="Noto Sans JP"/>
                          <a:ea typeface="Noto Sans JP"/>
                        </a:rPr>
                        <a:t>SCALABLE</a:t>
                      </a:r>
                    </a:p>
                  </a:txBody>
                  <a:tcPr marL="128016" marR="91440" marT="45720" marB="45720" anchor="ctr">
                    <a:solidFill>
                      <a:srgbClr val="E9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25A28"/>
                          </a:solidFill>
                          <a:latin typeface="Noto Sans JP"/>
                          <a:ea typeface="Noto Sans JP"/>
                        </a:rPr>
                        <a:t>DEEP DIVE</a:t>
                      </a:r>
                    </a:p>
                  </a:txBody>
                  <a:tcPr marL="128016" marR="91440" marT="45720" marB="45720" anchor="ctr">
                    <a:solidFill>
                      <a:srgbClr val="F8EF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646F"/>
                          </a:solidFill>
                          <a:latin typeface="Noto Sans JP"/>
                          <a:ea typeface="Noto Sans JP"/>
                        </a:rPr>
                        <a:t>対象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担当する全顧客(特にロングテール)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大口・戦略顧客・増額余地の大きい顧客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646F"/>
                          </a:solidFill>
                          <a:latin typeface="Noto Sans JP"/>
                          <a:ea typeface="Noto Sans JP"/>
                        </a:rPr>
                        <a:t>手段</a:t>
                      </a:r>
                    </a:p>
                  </a:txBody>
                  <a:tcPr marL="128016" marR="91440" marT="45720" marB="4572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GAS + Gemini API / Ads Scripts で自動化</a:t>
                      </a:r>
                    </a:p>
                  </a:txBody>
                  <a:tcPr marL="128016" marR="91440" marT="45720" marB="4572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Gemini / Deep Research / NotebookLM を対話的に</a:t>
                      </a:r>
                    </a:p>
                  </a:txBody>
                  <a:tcPr marL="128016" marR="91440" marT="45720" marB="45720" anchor="ctr">
                    <a:solidFill>
                      <a:srgbClr val="FA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646F"/>
                          </a:solidFill>
                          <a:latin typeface="Noto Sans JP"/>
                          <a:ea typeface="Noto Sans JP"/>
                        </a:rPr>
                        <a:t>成果物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毎週自動で届くダイジェスト・下書き・アラート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1社ごとに作り込んだ仮説・提案書・体験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646F"/>
                          </a:solidFill>
                          <a:latin typeface="Noto Sans JP"/>
                          <a:ea typeface="Noto Sans JP"/>
                        </a:rPr>
                        <a:t>人の役割</a:t>
                      </a:r>
                    </a:p>
                  </a:txBody>
                  <a:tcPr marL="128016" marR="91440" marT="45720" marB="4572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確認して送る/対応するだけ</a:t>
                      </a:r>
                    </a:p>
                  </a:txBody>
                  <a:tcPr marL="128016" marR="91440" marT="45720" marB="4572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AIと壁打ちしながら質を作り込む</a:t>
                      </a:r>
                    </a:p>
                  </a:txBody>
                  <a:tcPr marL="128016" marR="91440" marT="45720" marB="45720" anchor="ctr">
                    <a:solidFill>
                      <a:srgbClr val="FAFB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646F"/>
                          </a:solidFill>
                          <a:latin typeface="Noto Sans JP"/>
                          <a:ea typeface="Noto Sans JP"/>
                        </a:rPr>
                        <a:t>効く先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接点の量・カバレッジ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提案の質・受注単価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50" b="1">
                <a:solidFill>
                  <a:srgbClr val="0E8578"/>
                </a:solidFill>
                <a:latin typeface="Noto Sans JP"/>
                <a:ea typeface="Noto Sans JP"/>
              </a:rPr>
              <a:t>Scalableの網</a:t>
            </a:r>
            <a:r>
              <a:rPr sz="1250" b="0">
                <a:solidFill>
                  <a:srgbClr val="1D2933"/>
                </a:solidFill>
                <a:latin typeface="Noto Sans JP"/>
                <a:ea typeface="Noto Sans JP"/>
              </a:rPr>
              <a:t> (全顧客) → シグナル検知 (増額機会・温度感) → </a:t>
            </a:r>
            <a:r>
              <a:rPr sz="1250" b="1">
                <a:solidFill>
                  <a:srgbClr val="B25A28"/>
                </a:solidFill>
                <a:latin typeface="Noto Sans JP"/>
                <a:ea typeface="Noto Sans JP"/>
              </a:rPr>
              <a:t>Deep Diveで決めきる</a:t>
            </a:r>
            <a:r>
              <a:rPr sz="1250" b="0">
                <a:solidFill>
                  <a:srgbClr val="1D2933"/>
                </a:solidFill>
                <a:latin typeface="Noto Sans JP"/>
                <a:ea typeface="Noto Sans JP"/>
              </a:rPr>
              <a:t> (重点顧客)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46F"/>
                </a:solidFill>
                <a:latin typeface="Noto Sans JP"/>
                <a:ea typeface="Noto Sans JP"/>
              </a:rPr>
              <a:t>全体マップ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D2933"/>
                </a:solidFill>
                <a:latin typeface="Noto Sans JP"/>
                <a:ea typeface="Noto Sans JP"/>
              </a:rPr>
              <a:t>提案プロセス 5段階 × 2アプローチ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53128"/>
                <a:gridCol w="4443984"/>
              </a:tblGrid>
              <a:tr h="746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/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8578"/>
                          </a:solidFill>
                          <a:latin typeface="Noto Sans JP"/>
                          <a:ea typeface="Noto Sans JP"/>
                        </a:rPr>
                        <a:t>SCALABLE</a:t>
                      </a:r>
                    </a:p>
                  </a:txBody>
                  <a:tcPr marL="128016" marR="91440" anchor="ctr">
                    <a:solidFill>
                      <a:srgbClr val="E9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25A28"/>
                          </a:solidFill>
                          <a:latin typeface="Noto Sans JP"/>
                          <a:ea typeface="Noto Sans JP"/>
                        </a:rPr>
                        <a:t>DEEP DIVE</a:t>
                      </a:r>
                    </a:p>
                  </a:txBody>
                  <a:tcPr marL="128016" marR="91440" anchor="ctr">
                    <a:solidFill>
                      <a:srgbClr val="F8EFE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1. Planning</a:t>
                      </a:r>
                    </a:p>
                  </a:txBody>
                  <a:tcPr marL="128016" marR="9144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ニュースダイジェスト / IS損失の自動検知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Deep Research / NotebookLM顧客ノートブック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2. 商談準備</a:t>
                      </a:r>
                    </a:p>
                  </a:txBody>
                  <a:tcPr marL="128016" marR="9144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商談前ブリーフィング自動生成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課題仮説 / 反論処理ロールプレイ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3. 提案作成</a:t>
                      </a:r>
                    </a:p>
                  </a:txBody>
                  <a:tcPr marL="128016" marR="9144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提案書の一括パーソナライズ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翻訳レイヤー / 松竹梅3案 / レッドチームGem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4. エンゲージメント</a:t>
                      </a:r>
                    </a:p>
                  </a:txBody>
                  <a:tcPr marL="128016" marR="9144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エンゲージメント・エンジン / メール工場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商談後60分フォロー / NotebookLM共有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5. 効果検証</a:t>
                      </a:r>
                    </a:p>
                  </a:txBody>
                  <a:tcPr marL="128016" marR="9144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週次サマリ / 異常検知 / 導入ギャップ分析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2933"/>
                          </a:solidFill>
                          <a:latin typeface="Noto Sans JP"/>
                          <a:ea typeface="Noto Sans JP"/>
                        </a:rPr>
                        <a:t>QBRストーリー / So What変換</a:t>
                      </a:r>
                    </a:p>
                  </a:txBody>
                  <a:tcPr marL="128016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1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FAFBFC"/>
                </a:solidFill>
                <a:latin typeface="Noto Sans JP"/>
                <a:ea typeface="Noto Sans JP"/>
              </a:rPr>
              <a:t>1.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2. 商談準備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9664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3. 提案作成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4. エンゲージメント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0688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5. 効果検証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2933"/>
                </a:solidFill>
                <a:latin typeface="Noto Sans JP"/>
                <a:ea typeface="Noto Sans JP"/>
              </a:rPr>
              <a:t>Planning — 誰に・なぜ・いつ攻めるか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 w="9525">
            <a:solidFill>
              <a:srgbClr val="BB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SCALABLE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76272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IS損失(予算)の自動検知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Ads Scriptsで機会損失アカウントを毎週リストアップ = 増額ターゲットの自動発見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76272"/>
            <a:ext cx="45720" cy="859536"/>
          </a:xfrm>
          <a:prstGeom prst="rect">
            <a:avLst/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145536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顧客ニュース週次ダイジェスト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全顧客の新商品・出店・決算をGASが収集、月曜朝に「話しかけるネタ」が届く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伸びしろ自動スコアリング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顧客リストを毎週採点し「今月攻める上位5社」を通知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GAS + Gemini API / Ads Scripts / Sheets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F8EFE7"/>
          </a:solidFill>
          <a:ln w="9525">
            <a:solidFill>
              <a:srgbClr val="E5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DEEP DIVE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176272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NotebookLM 顧客ノートブック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IR資料・過去提案・議事録を投入し、根拠付きでアカウントプランを構築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176272"/>
            <a:ext cx="45720" cy="640080"/>
          </a:xfrm>
          <a:prstGeom prst="rect">
            <a:avLst/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926080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Deep Research 徹底調査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決算・競合・市場動向を1社数十分でレポート化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675888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競合出稿分析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Ads Transparency Centerの出稿をGeminiで分析し、差別化ポイントを設計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Deep Research / NotebookLM / Gemini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1.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1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FAFBFC"/>
                </a:solidFill>
                <a:latin typeface="Noto Sans JP"/>
                <a:ea typeface="Noto Sans JP"/>
              </a:rPr>
              <a:t>2. 商談準備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9664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3. 提案作成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4. エンゲージメント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0688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5. 効果検証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2933"/>
                </a:solidFill>
                <a:latin typeface="Noto Sans JP"/>
                <a:ea typeface="Noto Sans JP"/>
              </a:rPr>
              <a:t>商談準備 — 準備の速さと深さを両立する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 w="9525">
            <a:solidFill>
              <a:srgbClr val="BB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SCALABLE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76272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商談前ブリーフィング自動生成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Calendarをスキャンし、全商談に「会社概要・ニュース・想定課題・推奨プロダクト」を朝に自動配信。毎回15〜30分の準備を節約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76272"/>
            <a:ext cx="45720" cy="859536"/>
          </a:xfrm>
          <a:prstGeom prst="rect">
            <a:avLst/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145536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社内事例のNotebookLM化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事例集を一度整備すれば、全商談で「同業種の成功事例」を引用付きで即答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GAS + Calendar + Gemini API / NotebookLM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F8EFE7"/>
          </a:solidFill>
          <a:ln w="9525">
            <a:solidFill>
              <a:srgbClr val="E5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DEEP DIVE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176272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課題仮説ジェネレーター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顧客情報から「課題仮説3つ+根拠+検証質問」を生成。プロダクト起点でなく課題起点の商談に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176272"/>
            <a:ext cx="45720" cy="859536"/>
          </a:xfrm>
          <a:prstGeom prst="rect">
            <a:avLst/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3145536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反論処理ロールプレイ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Geminiに厳しい決裁者を演じさせて模擬商談。「PMaxはブラックボックス」等の定番反論を事前に鍛える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114800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役職別の想定問答集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CFO/マーケ責任者/現場、それぞれの想定質問と模範回答を準備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Gemini (Gems)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1.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2. 商談準備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9664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1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FAFBFC"/>
                </a:solidFill>
                <a:latin typeface="Noto Sans JP"/>
                <a:ea typeface="Noto Sans JP"/>
              </a:rPr>
              <a:t>3. 提案作成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4. エンゲージメント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0688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5. 効果検証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2933"/>
                </a:solidFill>
                <a:latin typeface="Noto Sans JP"/>
                <a:ea typeface="Noto Sans JP"/>
              </a:rPr>
              <a:t>提案作成 — 「Googleの話」を「顧客のビジネスの話」に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 w="9525">
            <a:solidFill>
              <a:srgbClr val="BB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SCALABLE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76272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提案書の一括パーソナライズ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マスターテンプレ+Sheets顧客データ → GASで10社分を自動差し込み生成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76272"/>
            <a:ext cx="45720" cy="859536"/>
          </a:xfrm>
          <a:prstGeom prst="rect">
            <a:avLst/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145536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業種別プロダクト説明の量産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「PMaxを◯◯業の言葉で」の説明バリエーションを事前に量産して使い回す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95344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役職別の書き分け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経営者3行 / マーケ半ページ / 運用者手順書、を機械的に生成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GAS + Slides API + Gemini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F8EFE7"/>
          </a:solidFill>
          <a:ln w="9525">
            <a:solidFill>
              <a:srgbClr val="E5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DEEP DIVE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176272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レッドチームGem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「予算に厳しい役員」を演じるGemに、提出前の提案書を叩かせて弱点を潰す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176272"/>
            <a:ext cx="45720" cy="640080"/>
          </a:xfrm>
          <a:prstGeom prst="rect">
            <a:avLst/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926080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翻訳レイヤー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決算資料から顧客の「公式の言葉・KPI」を抽出し、提案をその語彙で書き直す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895344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松竹梅の3案構成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増額提案をYes/Noでなく「どれにするか」の議論に変える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645152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Imagen / Veo クリエイティブモック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「御社ならこんな広告が作れる」を見せる。制作リソース不足の導入障壁も解消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Gemini (Gems) / Imagen / Veo / Google Vids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1.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2. 商談準備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9664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3. 提案作成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1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FAFBFC"/>
                </a:solidFill>
                <a:latin typeface="Noto Sans JP"/>
                <a:ea typeface="Noto Sans JP"/>
              </a:rPr>
              <a:t>4. エンゲージメント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0688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5. 効果検証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2933"/>
                </a:solidFill>
                <a:latin typeface="Noto Sans JP"/>
                <a:ea typeface="Noto Sans JP"/>
              </a:rPr>
              <a:t>エンゲージメント — 「連絡する理由」を絶やさない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 w="9525">
            <a:solidFill>
              <a:srgbClr val="BB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SCALABLE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76272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エンゲージメント・エンジン(本命)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ニュース / パフォーマンス変化 / 季節の3シグナル → 「連絡する理由+文面下書き」を毎週自動供給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76272"/>
            <a:ext cx="45720" cy="859536"/>
          </a:xfrm>
          <a:prstGeom prst="rect">
            <a:avLst/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145536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パーソナライズメール工場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顧客リスト × Gemini APIで各社専用の文面をGmail下書きに一括生成。質を保って量を10倍に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未返信検知・休眠再活性化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放置スレッドと45日無接点の顧客を検知し、再エンゲージ文面を下書き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64608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月次インサイトレター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業種ごとに1本、売り込まない「業界の話」を作り同業種顧客全員に展開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GAS + Gmail + Gemini API / Google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F8EFE7"/>
          </a:solidFill>
          <a:ln w="9525">
            <a:solidFill>
              <a:srgbClr val="E5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DEEP DIVE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76272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商談後60分フォロー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Meet議事録 → お礼+決定事項+「拾い残しトピック」を抽出し、次回商談を仕込む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176272"/>
            <a:ext cx="45720" cy="859536"/>
          </a:xfrm>
          <a:prstGeom prst="rect">
            <a:avLst/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145536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NotebookLM共有・音声概要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提案一式をノートブックで渡し、顧客が質問しながら理解できる形に。予習用ポッドキャストも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114800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Google Vids パーソナライズ動画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多忙な決裁者向けの「3分で見られる提案」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Gemini in Meet / NotebookLM / Google Vids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1.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2. 商談準備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9664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3. 提案作成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41148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55646F"/>
                </a:solidFill>
                <a:latin typeface="Noto Sans JP"/>
                <a:ea typeface="Noto Sans JP"/>
              </a:rPr>
              <a:t>4. エンゲージメント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0688" y="411480"/>
            <a:ext cx="1435608" cy="292608"/>
          </a:xfrm>
          <a:prstGeom prst="roundRect">
            <a:avLst>
              <a:gd name="adj" fmla="val 50000"/>
            </a:avLst>
          </a:prstGeom>
          <a:solidFill>
            <a:srgbClr val="1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950" b="1">
                <a:solidFill>
                  <a:srgbClr val="FAFBFC"/>
                </a:solidFill>
                <a:latin typeface="Noto Sans JP"/>
                <a:ea typeface="Noto Sans JP"/>
              </a:rPr>
              <a:t>5. 効果検証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D2933"/>
                </a:solidFill>
                <a:latin typeface="Noto Sans JP"/>
                <a:ea typeface="Noto Sans JP"/>
              </a:rPr>
              <a:t>効果検証 — 検証結果を次の増額・導入の弾にする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 w="9525">
            <a:solidFill>
              <a:srgbClr val="BB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SCALABLE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76272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週次パフォーマンスサマリ自動生成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全アカウントの変化点+推奨アクションを自然言語で自動配信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76272"/>
            <a:ext cx="45720" cy="640080"/>
          </a:xfrm>
          <a:prstGeom prst="rect">
            <a:avLst/>
          </a:prstGeom>
          <a:solidFill>
            <a:srgbClr val="0E8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26080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異常検知アラート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CPA/費用の急変を「顧客に説明できる文章」付きで通知 → 聞かれる前に先回り連絡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95344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導入ギャップ分析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顧客×推奨プロダクトのマトリクスから「今月の導入提案リスト」を自動生成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45152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RSAアセット改善案の量産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低評価アセットの改善案を自動生成し「来月のテスト」として提案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Ads Scripts + Gemini API / Looker Studio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F8EFE7"/>
          </a:solidFill>
          <a:ln w="9525">
            <a:solidFill>
              <a:srgbClr val="E5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17556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DEEP DIVE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76272"/>
            <a:ext cx="498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So What変換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IS損失 → 「機会損失額」への換算など、数字を経営の言葉に翻訳した増額ストーリー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176272"/>
            <a:ext cx="45720" cy="859536"/>
          </a:xfrm>
          <a:prstGeom prst="rect">
            <a:avLst/>
          </a:prstGeom>
          <a:solidFill>
            <a:srgbClr val="B2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145536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QBRストーリーの作り込み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実績+目標+議事録から「達成要因 → 学び → 来期投資提案」を構築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895344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検索語句クラスタリング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部分一致+スマート自動入札を推すための実データ根拠を作る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645152"/>
            <a:ext cx="49834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64008"/>
          <a:lstStyle/>
          <a:p>
            <a:pPr algn="l"/>
            <a:r>
              <a:rPr sz="1200" b="1">
                <a:solidFill>
                  <a:srgbClr val="1D2933"/>
                </a:solidFill>
                <a:latin typeface="Noto Sans JP"/>
                <a:ea typeface="Noto Sans JP"/>
              </a:rPr>
              <a:t>悪化時の説明資料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要因分解と挽回プランを速く出し、減額・解約を防ぐ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617220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46F"/>
                </a:solidFill>
                <a:latin typeface="Noto Sans JP"/>
                <a:ea typeface="Noto Sans JP"/>
              </a:rPr>
              <a:t>使う道具: Gemini / Colab / Sheets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46F"/>
                </a:solidFill>
                <a:latin typeface="Noto Sans JP"/>
                <a:ea typeface="Noto Sans JP"/>
              </a:rPr>
              <a:t>ミッションへの接続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D2933"/>
                </a:solidFill>
                <a:latin typeface="Noto Sans JP"/>
                <a:ea typeface="Noto Sans JP"/>
              </a:rPr>
              <a:t>Scalableで発見し、Deep Diveで決めきる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40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2933"/>
                </a:solidFill>
                <a:latin typeface="Noto Sans JP"/>
                <a:ea typeface="Noto Sans JP"/>
              </a:rPr>
              <a:t>ミッション1: 配信費用の増加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23160"/>
            <a:ext cx="4800600" cy="137160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 w="9525">
            <a:solidFill>
              <a:srgbClr val="BB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l"/>
            <a:r>
              <a:rPr sz="1050" b="1">
                <a:solidFill>
                  <a:srgbClr val="0E8578"/>
                </a:solidFill>
                <a:latin typeface="Noto Sans JP"/>
                <a:ea typeface="Noto Sans JP"/>
              </a:rPr>
              <a:t>SCALABLE — 機会を漏らさず発見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1D2933"/>
                </a:solidFill>
                <a:latin typeface="Noto Sans JP"/>
                <a:ea typeface="Noto Sans JP"/>
              </a:rPr>
              <a:t>IS損失の自動検知 / エンゲージメント・エンジンが増額シグナルを毎週供給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130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46F"/>
                </a:solidFill>
                <a:latin typeface="Noto Sans JP"/>
                <a:ea typeface="Noto Sans JP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206240"/>
            <a:ext cx="4800600" cy="1371600"/>
          </a:xfrm>
          <a:prstGeom prst="roundRect">
            <a:avLst>
              <a:gd name="adj" fmla="val 6000"/>
            </a:avLst>
          </a:prstGeom>
          <a:solidFill>
            <a:srgbClr val="F8EFE7"/>
          </a:solidFill>
          <a:ln w="9525">
            <a:solidFill>
              <a:srgbClr val="E5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l"/>
            <a:r>
              <a:rPr sz="1050" b="1">
                <a:solidFill>
                  <a:srgbClr val="B25A28"/>
                </a:solidFill>
                <a:latin typeface="Noto Sans JP"/>
                <a:ea typeface="Noto Sans JP"/>
              </a:rPr>
              <a:t>DEEP DIVE — 決めきる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1D2933"/>
                </a:solidFill>
                <a:latin typeface="Noto Sans JP"/>
                <a:ea typeface="Noto Sans JP"/>
              </a:rPr>
              <a:t>松竹梅3案構成 + So What変換(機会損失額)で投資判断を引き出す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40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2933"/>
                </a:solidFill>
                <a:latin typeface="Noto Sans JP"/>
                <a:ea typeface="Noto Sans JP"/>
              </a:rPr>
              <a:t>ミッション2: 推奨プロダクト導入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423160"/>
            <a:ext cx="4800600" cy="1371600"/>
          </a:xfrm>
          <a:prstGeom prst="roundRect">
            <a:avLst>
              <a:gd name="adj" fmla="val 6000"/>
            </a:avLst>
          </a:prstGeom>
          <a:solidFill>
            <a:srgbClr val="E9F4F2"/>
          </a:solidFill>
          <a:ln w="9525">
            <a:solidFill>
              <a:srgbClr val="BBDC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l"/>
            <a:r>
              <a:rPr sz="1050" b="1">
                <a:solidFill>
                  <a:srgbClr val="0E8578"/>
                </a:solidFill>
                <a:latin typeface="Noto Sans JP"/>
                <a:ea typeface="Noto Sans JP"/>
              </a:rPr>
              <a:t>SCALABLE — ターゲットを自動抽出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1D2933"/>
                </a:solidFill>
                <a:latin typeface="Noto Sans JP"/>
                <a:ea typeface="Noto Sans JP"/>
              </a:rPr>
              <a:t>導入ギャップ分析で「未導入×インパクト大」の顧客リストを毎月生成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8130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46F"/>
                </a:solidFill>
                <a:latin typeface="Noto Sans JP"/>
                <a:ea typeface="Noto Sans JP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206240"/>
            <a:ext cx="4800600" cy="1371600"/>
          </a:xfrm>
          <a:prstGeom prst="roundRect">
            <a:avLst>
              <a:gd name="adj" fmla="val 6000"/>
            </a:avLst>
          </a:prstGeom>
          <a:solidFill>
            <a:srgbClr val="F8EFE7"/>
          </a:solidFill>
          <a:ln w="9525">
            <a:solidFill>
              <a:srgbClr val="E5C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l"/>
            <a:r>
              <a:rPr sz="1050" b="1">
                <a:solidFill>
                  <a:srgbClr val="B25A28"/>
                </a:solidFill>
                <a:latin typeface="Noto Sans JP"/>
                <a:ea typeface="Noto Sans JP"/>
              </a:rPr>
              <a:t>DEEP DIVE — 導入障壁を潰す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50" b="0">
                <a:solidFill>
                  <a:srgbClr val="1D2933"/>
                </a:solidFill>
                <a:latin typeface="Noto Sans JP"/>
                <a:ea typeface="Noto Sans JP"/>
              </a:rPr>
              <a:t>翻訳レイヤーで価値を自分事化 + クリエイティブモックで制作リソース不足を解消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46F"/>
                </a:solidFill>
                <a:latin typeface="Noto Sans JP"/>
                <a:ea typeface="Noto Sans JP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D2933"/>
                </a:solidFill>
                <a:latin typeface="Noto Sans JP"/>
                <a:ea typeface="Noto Sans JP"/>
              </a:rPr>
              <a:t>実装ロードマップ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5646F"/>
                </a:solidFill>
                <a:latin typeface="Noto Sans JP"/>
                <a:ea typeface="Noto Sans JP"/>
              </a:rPr>
              <a:t>Deep Dive側はノーコードで今日から。コードを書く価値があるのはScalable側。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/>
            <a:r>
              <a:rPr sz="1300" b="1">
                <a:solidFill>
                  <a:srgbClr val="B25A28"/>
                </a:solidFill>
                <a:latin typeface="Noto Sans JP"/>
                <a:ea typeface="Noto Sans JP"/>
              </a:rPr>
              <a:t>今日   </a:t>
            </a:r>
            <a:r>
              <a:rPr sz="1300" b="1">
                <a:solidFill>
                  <a:srgbClr val="1D2933"/>
                </a:solidFill>
                <a:latin typeface="Noto Sans JP"/>
                <a:ea typeface="Noto Sans JP"/>
              </a:rPr>
              <a:t>Gems登録(ノーコード)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55646F"/>
                </a:solidFill>
                <a:latin typeface="Noto Sans JP"/>
                <a:ea typeface="Noto Sans JP"/>
              </a:rPr>
              <a:t>レッドチームGem / 課題仮説ジェネレーター / 翻訳レイヤー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/>
            <a:r>
              <a:rPr sz="1300" b="1">
                <a:solidFill>
                  <a:srgbClr val="0E8578"/>
                </a:solidFill>
                <a:latin typeface="Noto Sans JP"/>
                <a:ea typeface="Noto Sans JP"/>
              </a:rPr>
              <a:t>1週目   </a:t>
            </a:r>
            <a:r>
              <a:rPr sz="1300" b="1">
                <a:solidFill>
                  <a:srgbClr val="1D2933"/>
                </a:solidFill>
                <a:latin typeface="Noto Sans JP"/>
                <a:ea typeface="Noto Sans JP"/>
              </a:rPr>
              <a:t>パーソナライズメール工場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55646F"/>
                </a:solidFill>
                <a:latin typeface="Noto Sans JP"/>
                <a:ea typeface="Noto Sans JP"/>
              </a:rPr>
              <a:t>GAS + Sheets + Gemini API + Gmail下書き。小さく作れてすぐ効果が見える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/>
            <a:r>
              <a:rPr sz="1300" b="1">
                <a:solidFill>
                  <a:srgbClr val="0E8578"/>
                </a:solidFill>
                <a:latin typeface="Noto Sans JP"/>
                <a:ea typeface="Noto Sans JP"/>
              </a:rPr>
              <a:t>2週目   </a:t>
            </a:r>
            <a:r>
              <a:rPr sz="1300" b="1">
                <a:solidFill>
                  <a:srgbClr val="1D2933"/>
                </a:solidFill>
                <a:latin typeface="Noto Sans JP"/>
                <a:ea typeface="Noto Sans JP"/>
              </a:rPr>
              <a:t>商談前ブリーフィング自動生成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55646F"/>
                </a:solidFill>
                <a:latin typeface="Noto Sans JP"/>
                <a:ea typeface="Noto Sans JP"/>
              </a:rPr>
              <a:t>Calendar連動で全商談に自動配信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/>
            <a:r>
              <a:rPr sz="1300" b="1">
                <a:solidFill>
                  <a:srgbClr val="0E8578"/>
                </a:solidFill>
                <a:latin typeface="Noto Sans JP"/>
                <a:ea typeface="Noto Sans JP"/>
              </a:rPr>
              <a:t>3–4週目   </a:t>
            </a:r>
            <a:r>
              <a:rPr sz="1300" b="1">
                <a:solidFill>
                  <a:srgbClr val="1D2933"/>
                </a:solidFill>
                <a:latin typeface="Noto Sans JP"/>
                <a:ea typeface="Noto Sans JP"/>
              </a:rPr>
              <a:t>週次サマリ+IS損失検知 → エンゲージメント・エンジン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55646F"/>
                </a:solidFill>
                <a:latin typeface="Noto Sans JP"/>
                <a:ea typeface="Noto Sans JP"/>
              </a:rPr>
              <a:t>メール工場の生成部品を再利用して構築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97880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646F"/>
                </a:solidFill>
                <a:latin typeface="Noto Sans JP"/>
                <a:ea typeface="Noto Sans JP"/>
              </a:rPr>
              <a:t>運用ルール: 自動化は「下書きまで」— 送信は必ず人間が行う / AIの数値・事例は一次ソースで裏取りしてから顧客に提示 / 顧客データの取り扱いは社内ポリシーに従う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